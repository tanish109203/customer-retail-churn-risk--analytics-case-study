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8" r:id="rId21"/>
    <p:sldId id="279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33243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88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82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41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21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81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88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84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8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AADB49E-BC2D-44D9-9F5D-3DDE97BC7EF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82EAA6C-41E4-4031-AF7F-672EC3690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891D-7BD6-E7C7-E72A-0E6230975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Customer Analytics &amp; Churn Risk Analysis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7D08-CE1D-5DD5-079F-5FE3E6380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i="1" dirty="0"/>
              <a:t>An End-to-End Business Analytics Case Study</a:t>
            </a:r>
          </a:p>
          <a:p>
            <a:r>
              <a:rPr lang="en-GB" dirty="0"/>
              <a:t>Tools: Excel | SQL | Python | Power BI</a:t>
            </a:r>
          </a:p>
          <a:p>
            <a:r>
              <a:rPr lang="en-GB" b="1" dirty="0"/>
              <a:t>Tanish Sable</a:t>
            </a:r>
          </a:p>
          <a:p>
            <a:r>
              <a:rPr lang="en-GB" dirty="0"/>
              <a:t>Business Analyst Project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FADB7-C79A-10F6-141E-A44D10CE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955" y="4085706"/>
            <a:ext cx="4159045" cy="277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6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5914-4CBD-98F4-080C-8F14F45E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A7F48-A35D-E8F8-22F4-F64BFBB6B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was the business problem? </a:t>
            </a:r>
          </a:p>
          <a:p>
            <a:r>
              <a:rPr lang="en-GB" dirty="0"/>
              <a:t>The company operates in a retail and e-commerce environment with: Large customer base High transaction volume </a:t>
            </a:r>
          </a:p>
          <a:p>
            <a:r>
              <a:rPr lang="en-GB" dirty="0"/>
              <a:t>No clear visibility into: Customer value Churn risk Revenue concentration </a:t>
            </a:r>
          </a:p>
          <a:p>
            <a:r>
              <a:rPr lang="en-GB" dirty="0"/>
              <a:t>Why this problem matters?</a:t>
            </a:r>
          </a:p>
          <a:p>
            <a:r>
              <a:rPr lang="en-GB" dirty="0"/>
              <a:t> Losing high-value customers significantly affects revenue. </a:t>
            </a:r>
          </a:p>
          <a:p>
            <a:r>
              <a:rPr lang="en-GB" dirty="0"/>
              <a:t>Marketing expenses are ineffective without segmentation. Leadership does not have actionable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84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F789-5AD2-3CCB-A411-01FF3E46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2A7F4-82CD-09A3-776D-B5A8A2C5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aimed to achieve Understanding customer purchasing </a:t>
            </a:r>
            <a:r>
              <a:rPr lang="en-GB" dirty="0" err="1"/>
              <a:t>behavior</a:t>
            </a:r>
            <a:r>
              <a:rPr lang="en-GB" dirty="0"/>
              <a:t>. </a:t>
            </a:r>
          </a:p>
          <a:p>
            <a:r>
              <a:rPr lang="en-GB" dirty="0"/>
              <a:t>Segmenting customers using data-based logic. </a:t>
            </a:r>
          </a:p>
          <a:p>
            <a:r>
              <a:rPr lang="en-GB" dirty="0"/>
              <a:t>Identifying high-risk and high-value churn customers. </a:t>
            </a:r>
          </a:p>
          <a:p>
            <a:r>
              <a:rPr lang="en-GB" dirty="0"/>
              <a:t>Building a decision-ready dashboard for stakeholders.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045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5E9C-8A90-230E-C8F8-56BCB55C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5ADA6-5B26-CCDE-C68D-7DB93E74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Dataset Description</a:t>
            </a:r>
          </a:p>
          <a:p>
            <a:r>
              <a:rPr lang="en-IN" dirty="0"/>
              <a:t>Source: Online retail transaction data</a:t>
            </a:r>
          </a:p>
          <a:p>
            <a:r>
              <a:rPr lang="en-IN" dirty="0"/>
              <a:t>Records: 1M+ transactions</a:t>
            </a:r>
          </a:p>
          <a:p>
            <a:r>
              <a:rPr lang="en-IN" dirty="0"/>
              <a:t>Time period: Multi-year transactional data</a:t>
            </a:r>
          </a:p>
          <a:p>
            <a:r>
              <a:rPr lang="en-IN" b="1" dirty="0"/>
              <a:t> Key Fields</a:t>
            </a:r>
          </a:p>
          <a:p>
            <a:r>
              <a:rPr lang="en-IN" dirty="0"/>
              <a:t>Invoice, </a:t>
            </a:r>
            <a:r>
              <a:rPr lang="en-IN" dirty="0" err="1"/>
              <a:t>CustomerID</a:t>
            </a:r>
            <a:endParaRPr lang="en-IN" dirty="0"/>
          </a:p>
          <a:p>
            <a:r>
              <a:rPr lang="en-IN" dirty="0"/>
              <a:t>Quantity, Price</a:t>
            </a:r>
          </a:p>
          <a:p>
            <a:r>
              <a:rPr lang="en-IN" dirty="0"/>
              <a:t>Invoice Date</a:t>
            </a:r>
          </a:p>
          <a:p>
            <a:r>
              <a:rPr lang="en-IN" dirty="0"/>
              <a:t>Country</a:t>
            </a:r>
          </a:p>
          <a:p>
            <a:r>
              <a:rPr lang="en-IN" dirty="0"/>
              <a:t>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82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8045-541E-5FFE-198B-4BC00652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 USING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1C1A6-9305-7A74-A12B-AD45B4FC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Before starting any analysis, our top priority was to make the data reliable and understandable. </a:t>
            </a:r>
          </a:p>
          <a:p>
            <a:r>
              <a:rPr lang="en-GB" dirty="0"/>
              <a:t>The raw dataset came directly from transactional systems. </a:t>
            </a:r>
          </a:p>
          <a:p>
            <a:r>
              <a:rPr lang="en-GB" dirty="0"/>
              <a:t>It was large, messy, and not ready for analysis.</a:t>
            </a:r>
          </a:p>
          <a:p>
            <a:r>
              <a:rPr lang="en-GB" dirty="0"/>
              <a:t> What we did in Excel We used Excel as our first step to: </a:t>
            </a:r>
          </a:p>
          <a:p>
            <a:r>
              <a:rPr lang="en-GB" dirty="0"/>
              <a:t>Review the raw structure of the data and Understand each column from a business perspective </a:t>
            </a:r>
          </a:p>
          <a:p>
            <a:r>
              <a:rPr lang="en-GB" dirty="0"/>
              <a:t>Identify obvious quality issues early Key preparation steps included</a:t>
            </a:r>
          </a:p>
          <a:p>
            <a:r>
              <a:rPr lang="en-GB" dirty="0"/>
              <a:t> Converting date-time fields into usable formats - Breaking down invoice timestamps into date, year, and month </a:t>
            </a:r>
          </a:p>
          <a:p>
            <a:r>
              <a:rPr lang="en-GB" dirty="0"/>
              <a:t> Creating a revenue column by multiplying quantity and price - Checking for missing customer IDs and unusual values </a:t>
            </a:r>
          </a:p>
          <a:p>
            <a:r>
              <a:rPr lang="en-GB" dirty="0"/>
              <a:t> Classifying transactions into meaningful types (sales vs non-sales)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06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ED49-F370-04B2-137E-53635DCC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6308-EB87-12CB-2E90-FAAA0EC9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Excel phase produced: A cleaned dataset with consistent data types. </a:t>
            </a:r>
          </a:p>
          <a:p>
            <a:r>
              <a:rPr lang="en-GB" dirty="0"/>
              <a:t>Time-based features: Invoice Date. Year. Month. </a:t>
            </a:r>
          </a:p>
          <a:p>
            <a:r>
              <a:rPr lang="en-GB" dirty="0"/>
              <a:t>A validated Revenue field at the transaction level. </a:t>
            </a:r>
          </a:p>
          <a:p>
            <a:r>
              <a:rPr lang="en-GB" dirty="0"/>
              <a:t>Clear identification of valid customer records.</a:t>
            </a:r>
          </a:p>
          <a:p>
            <a:r>
              <a:rPr lang="en-GB" dirty="0"/>
              <a:t> A dataset arranged for easy import into SQL and Python.</a:t>
            </a:r>
          </a:p>
          <a:p>
            <a:r>
              <a:rPr lang="en-GB" dirty="0"/>
              <a:t>Even at this early stage, a few patterns became clear. </a:t>
            </a:r>
          </a:p>
          <a:p>
            <a:r>
              <a:rPr lang="en-GB" dirty="0"/>
              <a:t>A small group of customers appeared frequently on invoices.</a:t>
            </a:r>
          </a:p>
          <a:p>
            <a:r>
              <a:rPr lang="en-GB" dirty="0"/>
              <a:t> Revenue was spread unevenly among customers. </a:t>
            </a:r>
          </a:p>
          <a:p>
            <a:r>
              <a:rPr lang="en-GB" dirty="0"/>
              <a:t>Some periods showed higher transaction volumes, indicating seasonality.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48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6878-574E-EDB0-5488-6751EFCD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Excel Insights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6B539DE-8128-D2C9-9EA5-D159B92DD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33" y="2035278"/>
            <a:ext cx="1591952" cy="43513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A3D647-B1B8-1ED4-2C4F-BFE1B2FF8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447" y="2526226"/>
            <a:ext cx="3400900" cy="27150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457BD2-EC26-5224-2879-FD9E68F14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281" y="2841524"/>
            <a:ext cx="2719035" cy="194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2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7E21-20EE-0E66-797F-9A2E71C2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VALIDATION &amp; METRIC CHECKS USING 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BF7E8-75C4-D340-1C2D-F1809A00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we prepared the data in Excel, the next step was to check the numbers in a more organized and dependable environment. </a:t>
            </a:r>
          </a:p>
          <a:p>
            <a:r>
              <a:rPr lang="en-GB" dirty="0"/>
              <a:t>So, we transferred the dataset into MySQL.</a:t>
            </a:r>
          </a:p>
          <a:p>
            <a:r>
              <a:rPr lang="en-GB" dirty="0"/>
              <a:t> What we did in SQL In SQL, we concentrated on validating important business metrics instead of doing exploratory analysis. </a:t>
            </a:r>
          </a:p>
          <a:p>
            <a:r>
              <a:rPr lang="en-GB" dirty="0"/>
              <a:t>The main activities included: Loading the cleaned dataset into a relational database. </a:t>
            </a:r>
          </a:p>
          <a:p>
            <a:r>
              <a:rPr lang="en-GB" dirty="0"/>
              <a:t>Rechecking revenue calculations on a large scale. </a:t>
            </a:r>
          </a:p>
          <a:p>
            <a:r>
              <a:rPr lang="en-GB" dirty="0"/>
              <a:t>Filtering transactions to include only valid sales.</a:t>
            </a:r>
          </a:p>
          <a:p>
            <a:r>
              <a:rPr lang="en-GB" dirty="0"/>
              <a:t> Aggregating data to calculate: Total revenue. Total number of orders. Customer-level revenue. Time-based summaries.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03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5B2E24-7252-77C3-6332-EAE968F2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19" y="267785"/>
            <a:ext cx="3914713" cy="2652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3AEAB3-26B7-6FF4-F48C-5371ABA8F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99" y="144554"/>
            <a:ext cx="3294672" cy="2608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C4A8E2-ED2C-1078-ABC1-CA8D3507F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587" y="144554"/>
            <a:ext cx="2738734" cy="39518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31D47F-1FE1-6FB3-DADD-D0FC9150D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9" y="3110836"/>
            <a:ext cx="4090993" cy="3747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4FB529-A5BB-7F89-01DC-B032D8C60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99" y="2753063"/>
            <a:ext cx="3607291" cy="40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8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CA7D4-56AE-C856-0A00-172C6BCFC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4" y="162216"/>
            <a:ext cx="3608996" cy="3721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F7239-ED67-FCF0-D5DA-932746904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47" y="516085"/>
            <a:ext cx="4296704" cy="56290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4DAB6D-A025-1DC4-9D7D-0ADE04300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391" y="3893919"/>
            <a:ext cx="3461512" cy="280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4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D317-F269-7DC4-E99F-A7A9EDEF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BUSINESS CONFIRMATION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78792-22D0-A2FA-FCEB-7E8B4523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running several validation queries, we gained a strong confidence in the data accuracy. </a:t>
            </a:r>
          </a:p>
          <a:p>
            <a:r>
              <a:rPr lang="en-GB" dirty="0"/>
              <a:t>SQL helped us confirm: Revenue totals matched Excel calculations. Customer counts were consistent across time periods. </a:t>
            </a:r>
          </a:p>
          <a:p>
            <a:r>
              <a:rPr lang="en-GB" dirty="0"/>
              <a:t>No duplicate or invalid transactions were inflating metrics. </a:t>
            </a:r>
          </a:p>
          <a:p>
            <a:r>
              <a:rPr lang="en-GB" dirty="0"/>
              <a:t>Time-based aggregations behaved as expected.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183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02F3-03B1-6902-FEE2-A25A929F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CUSTOMER ANALYTICS USING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497DA-4C3E-5032-995E-0D39EE164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validating the data using Excel and SQL, the next challenge was no longer about data correctness, but about understanding the business. </a:t>
            </a:r>
          </a:p>
          <a:p>
            <a:r>
              <a:rPr lang="en-GB" dirty="0"/>
              <a:t>At this stage, we needed to answer deeper questions: </a:t>
            </a:r>
          </a:p>
          <a:p>
            <a:r>
              <a:rPr lang="en-GB" dirty="0"/>
              <a:t>Which customers are truly valuable? </a:t>
            </a:r>
          </a:p>
          <a:p>
            <a:r>
              <a:rPr lang="en-GB" dirty="0"/>
              <a:t>How do customer </a:t>
            </a:r>
            <a:r>
              <a:rPr lang="en-GB" dirty="0" err="1"/>
              <a:t>behaviors</a:t>
            </a:r>
            <a:r>
              <a:rPr lang="en-GB" dirty="0"/>
              <a:t> differ? </a:t>
            </a:r>
          </a:p>
          <a:p>
            <a:r>
              <a:rPr lang="en-GB" dirty="0"/>
              <a:t>Who is likely to churn soon? </a:t>
            </a:r>
          </a:p>
          <a:p>
            <a:r>
              <a:rPr lang="en-GB" dirty="0"/>
              <a:t>These questions require </a:t>
            </a:r>
            <a:r>
              <a:rPr lang="en-GB" dirty="0" err="1"/>
              <a:t>behavioral</a:t>
            </a:r>
            <a:r>
              <a:rPr lang="en-GB" dirty="0"/>
              <a:t> analysis and scalable logic. This is where Python becomes essential.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8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B6FA-E8F4-DA72-D80C-E457E416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RFM ANALYSIS: UNDERSTANDING CUSTOMER 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00258-E1DB-B496-9FBF-F64CA4DE0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To segment customers based on their actual purchasing </a:t>
            </a:r>
            <a:r>
              <a:rPr lang="en-GB" dirty="0" err="1"/>
              <a:t>behavior</a:t>
            </a:r>
            <a:r>
              <a:rPr lang="en-GB" dirty="0"/>
              <a:t>, we used RFM analysis, a common method in the industry.</a:t>
            </a:r>
          </a:p>
          <a:p>
            <a:r>
              <a:rPr lang="en-GB" dirty="0"/>
              <a:t> What RFM measures are: </a:t>
            </a:r>
          </a:p>
          <a:p>
            <a:r>
              <a:rPr lang="en-GB" dirty="0"/>
              <a:t>Recency, how recently a customer made a purchase. </a:t>
            </a:r>
          </a:p>
          <a:p>
            <a:r>
              <a:rPr lang="en-GB" dirty="0"/>
              <a:t>Frequency, how often a customer purchases. </a:t>
            </a:r>
          </a:p>
          <a:p>
            <a:r>
              <a:rPr lang="en-GB" dirty="0"/>
              <a:t>Monetary, how much revenue a customer generates.</a:t>
            </a:r>
          </a:p>
          <a:p>
            <a:r>
              <a:rPr lang="en-GB" dirty="0"/>
              <a:t> Why we used RFM: It is based on data and is objective. It is easy to explain to business stakeholders. </a:t>
            </a:r>
          </a:p>
          <a:p>
            <a:r>
              <a:rPr lang="en-GB" dirty="0"/>
              <a:t>It works well for segmentation and targeting. </a:t>
            </a:r>
          </a:p>
          <a:p>
            <a:r>
              <a:rPr lang="en-GB" dirty="0"/>
              <a:t>Using Python, we calculated RFM values for each customer, ensuring accuracy and scalability.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30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FCEB-2331-61A7-1823-481B8BF2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RFM SCORING &amp; CUSTOMER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C549-61D7-240A-8885-DA053FCA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we calculated Recency, Frequency, and Monetary values, we converted them into relative scores using quartile-based logic.</a:t>
            </a:r>
          </a:p>
          <a:p>
            <a:r>
              <a:rPr lang="en-GB" dirty="0"/>
              <a:t> How scoring worked: Customers were ranked compared to others. Higher scores indicated better engagement or value.</a:t>
            </a:r>
          </a:p>
          <a:p>
            <a:r>
              <a:rPr lang="en-GB" dirty="0"/>
              <a:t> We combined individual R, F, and M scores into a single RFM score. </a:t>
            </a:r>
          </a:p>
          <a:p>
            <a:r>
              <a:rPr lang="en-GB" dirty="0"/>
              <a:t>Customer segments created: </a:t>
            </a:r>
          </a:p>
          <a:p>
            <a:r>
              <a:rPr lang="en-GB" dirty="0"/>
              <a:t>Champions – Recent, frequent, high-value customers. </a:t>
            </a:r>
          </a:p>
          <a:p>
            <a:r>
              <a:rPr lang="en-GB" dirty="0"/>
              <a:t>Loyal – Consistent and valuable customers. </a:t>
            </a:r>
          </a:p>
          <a:p>
            <a:r>
              <a:rPr lang="en-GB" dirty="0"/>
              <a:t>At Risk – Customers showing signs of disengagement.</a:t>
            </a:r>
          </a:p>
          <a:p>
            <a:r>
              <a:rPr lang="en-GB" dirty="0"/>
              <a:t> Lost – Inactive, low-value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93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B112-7EC0-64F8-C753-49AF7986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LIFETIME VALUE (CLV) ESTIMATION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C951-B09A-9A9F-92D3-DA891D5B9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While RFM explains behaviour, it does not directly show long-term value. </a:t>
            </a:r>
          </a:p>
          <a:p>
            <a:r>
              <a:rPr lang="en-GB" dirty="0"/>
              <a:t>To tackle this, we estimated Customer Lifetime Value (CLV) using a practical, clear approach. </a:t>
            </a:r>
          </a:p>
          <a:p>
            <a:r>
              <a:rPr lang="en-GB" dirty="0"/>
              <a:t>How we estimated CLV: - Average order value per customer - Purchase frequency over the observed period - Combined to estimate customer value potential</a:t>
            </a:r>
          </a:p>
          <a:p>
            <a:r>
              <a:rPr lang="en-GB" dirty="0"/>
              <a:t> Why this mattered: - Not all frequent customers are high value - Some low-frequency customers generate significant revenue </a:t>
            </a:r>
          </a:p>
          <a:p>
            <a:r>
              <a:rPr lang="en-GB" dirty="0"/>
              <a:t> CLV highlights customers worth keeping at a higher cost CLV provided a financial view to behavioural segmentation.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014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9FEA-2E6D-F7A6-DB1D-9F5C1ACD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CHURN RISK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B5BF-134C-C8C7-8CA2-5F6DE09D6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make the analysis forward-looking, we introduced a churn risk indicator. </a:t>
            </a:r>
          </a:p>
          <a:p>
            <a:r>
              <a:rPr lang="en-GB" dirty="0"/>
              <a:t>How we defined churn risk: Customers with long periods of inactivity were flagged. We used recency thresholds to identify disengagement risk.</a:t>
            </a:r>
          </a:p>
          <a:p>
            <a:r>
              <a:rPr lang="en-GB" dirty="0"/>
              <a:t> Why churn analysis was important: It's cheaper to keep existing customers than to acquire new ones. </a:t>
            </a:r>
          </a:p>
          <a:p>
            <a:r>
              <a:rPr lang="en-GB" dirty="0"/>
              <a:t>High-value churn greatly affects revenue. </a:t>
            </a:r>
          </a:p>
          <a:p>
            <a:r>
              <a:rPr lang="en-GB" dirty="0"/>
              <a:t>Identifying risk early allows for proactive retention strategies.</a:t>
            </a:r>
          </a:p>
          <a:p>
            <a:r>
              <a:rPr lang="en-GB" dirty="0"/>
              <a:t> This step moved the project from descriptive analytics to risk-focused decision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66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E234-447D-9B3E-2ADF-1592B347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E092-6D37-3805-B6CC-77BA4D29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produced: </a:t>
            </a:r>
          </a:p>
          <a:p>
            <a:r>
              <a:rPr lang="en-GB" dirty="0"/>
              <a:t> Customer-level behavioural metrics </a:t>
            </a:r>
          </a:p>
          <a:p>
            <a:r>
              <a:rPr lang="en-GB" dirty="0"/>
              <a:t> Clear customer segments - Estimated lifetime value per customer </a:t>
            </a:r>
          </a:p>
          <a:p>
            <a:r>
              <a:rPr lang="en-GB" dirty="0"/>
              <a:t> Churn risk indicators </a:t>
            </a:r>
          </a:p>
          <a:p>
            <a:r>
              <a:rPr lang="en-GB" dirty="0"/>
              <a:t> Marketing and retention efforts could be targeted.</a:t>
            </a:r>
          </a:p>
          <a:p>
            <a:r>
              <a:rPr lang="en-GB" dirty="0"/>
              <a:t> Decision-makers gained clarity on where revenue truly comes from. </a:t>
            </a:r>
          </a:p>
          <a:p>
            <a:r>
              <a:rPr lang="en-GB" dirty="0"/>
              <a:t>This phase turned raw data into useful customer intelligence.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304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C94B-8255-4D7F-CC7C-7C1B6508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BUSINESS STORYTELLING USING POWER BI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B5336-BE30-1780-1898-74666E18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completing data preparation, validation, and customer analytics, the final challenge was communication.</a:t>
            </a:r>
          </a:p>
          <a:p>
            <a:r>
              <a:rPr lang="en-GB" dirty="0"/>
              <a:t> While Python provided valuable insights, stakeholders do not engage with code. To close this gap, we used Power BI to turn analytical outputs into a clear, decision-ready dashboard. </a:t>
            </a:r>
          </a:p>
          <a:p>
            <a:pPr marL="0" indent="0">
              <a:buNone/>
            </a:pP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69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3C194-4BC7-595C-9EB9-F78616F5B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5851"/>
            <a:ext cx="11277600" cy="49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68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DAF3F-DEB9-F05D-8133-E75E7EA81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900"/>
            <a:ext cx="11297265" cy="520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43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0ACC0-A9B3-0999-A269-9EDFBC12F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926"/>
            <a:ext cx="11297265" cy="522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34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C08E-789D-8FC3-83D4-EF974563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INSIGHTS FROM THE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F21B4-AFF6-AE45-21A3-111D2C9F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Across all dashboard pages, several important insights emerged: </a:t>
            </a:r>
          </a:p>
          <a:p>
            <a:r>
              <a:rPr lang="en-GB" dirty="0"/>
              <a:t>A small segment of customers contributes a large share of revenue.</a:t>
            </a:r>
          </a:p>
          <a:p>
            <a:r>
              <a:rPr lang="en-GB" dirty="0"/>
              <a:t> High-value customers show clear behavioural patterns.</a:t>
            </a:r>
          </a:p>
          <a:p>
            <a:r>
              <a:rPr lang="en-GB" dirty="0"/>
              <a:t> Churn risk increases significantly with prolonged inactivity. </a:t>
            </a:r>
          </a:p>
          <a:p>
            <a:r>
              <a:rPr lang="en-GB" dirty="0"/>
              <a:t>Not all frequent customers are equally valuable. </a:t>
            </a:r>
          </a:p>
          <a:p>
            <a:r>
              <a:rPr lang="en-GB" dirty="0"/>
              <a:t>These insights help the business focus its efforts where they matter most.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9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0883-8DC8-0E06-D9BC-E45F01DF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BD8D-1479-2912-EFF6-437A3AE9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the dashboard findings, the following actions are recommended: </a:t>
            </a:r>
          </a:p>
          <a:p>
            <a:r>
              <a:rPr lang="en-GB" dirty="0"/>
              <a:t>Introduce targeted retention campaigns for high-CLV at-risk customers. </a:t>
            </a:r>
          </a:p>
          <a:p>
            <a:r>
              <a:rPr lang="en-GB" dirty="0"/>
              <a:t>Reward and keep Champions through loyalty programs. </a:t>
            </a:r>
          </a:p>
          <a:p>
            <a:r>
              <a:rPr lang="en-GB" dirty="0"/>
              <a:t>Re-engage inactive customers before they leave for good. </a:t>
            </a:r>
          </a:p>
          <a:p>
            <a:r>
              <a:rPr lang="en-GB" dirty="0"/>
              <a:t>Shift from mass marketing to strategies based on specific segments.</a:t>
            </a:r>
          </a:p>
          <a:p>
            <a:r>
              <a:rPr lang="en-GB" dirty="0"/>
              <a:t> These recommendations come directly from data, not assumptions.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792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EFDA-BA31-7F71-A468-699715F4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1A3D8-868E-444F-4279-DD5911D0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combining Excel, SQL, Python, and Power BI, this project:</a:t>
            </a:r>
          </a:p>
          <a:p>
            <a:r>
              <a:rPr lang="en-GB" dirty="0"/>
              <a:t> Transformed raw transaction data into useful insights.</a:t>
            </a:r>
          </a:p>
          <a:p>
            <a:r>
              <a:rPr lang="en-GB" dirty="0"/>
              <a:t> Enabled decision-making focused on customers. Showed complete analytical thinking. </a:t>
            </a:r>
          </a:p>
          <a:p>
            <a:r>
              <a:rPr lang="en-GB" dirty="0"/>
              <a:t>The result is a practical, business-ready customer analytics solution.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34704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73</TotalTime>
  <Words>1313</Words>
  <Application>Microsoft Office PowerPoint</Application>
  <PresentationFormat>Widescreen</PresentationFormat>
  <Paragraphs>131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Schoolbook</vt:lpstr>
      <vt:lpstr>Wingdings 2</vt:lpstr>
      <vt:lpstr>View</vt:lpstr>
      <vt:lpstr>Customer Analytics &amp; Churn Risk Analysis </vt:lpstr>
      <vt:lpstr>BUSINESS CONTEXT</vt:lpstr>
      <vt:lpstr>PROJECT OBJECTIVES</vt:lpstr>
      <vt:lpstr>DATA OVERVIEW </vt:lpstr>
      <vt:lpstr>DATA PREPARATION USING EXCEL</vt:lpstr>
      <vt:lpstr>OUTPUTS &amp; KEY LEARNINGS</vt:lpstr>
      <vt:lpstr>Excel Insights</vt:lpstr>
      <vt:lpstr>DATA VALIDATION &amp; METRIC CHECKS USING SQL</vt:lpstr>
      <vt:lpstr>PowerPoint Presentation</vt:lpstr>
      <vt:lpstr>PowerPoint Presentation</vt:lpstr>
      <vt:lpstr>OUTPUTS &amp; BUSINESS CONFIRMATION</vt:lpstr>
      <vt:lpstr>ADVANCED CUSTOMER ANALYTICS USING PYTHON</vt:lpstr>
      <vt:lpstr>RFM ANALYSIS: UNDERSTANDING CUSTOMER BEHAVIOR</vt:lpstr>
      <vt:lpstr>RFM SCORING &amp; CUSTOMER SEGMENTS</vt:lpstr>
      <vt:lpstr>CUSTOMER LIFETIME VALUE (CLV) ESTIMATION</vt:lpstr>
      <vt:lpstr>CHURN RISK IDENTIFICATION</vt:lpstr>
      <vt:lpstr>OUTPUTS &amp; BUSINESS IMPACT</vt:lpstr>
      <vt:lpstr>BUSINESS STORYTELLING USING POWER BI</vt:lpstr>
      <vt:lpstr>PowerPoint Presentation</vt:lpstr>
      <vt:lpstr>PowerPoint Presentation</vt:lpstr>
      <vt:lpstr>PowerPoint Presentation</vt:lpstr>
      <vt:lpstr>KEY INSIGHTS FROM THE DASHBOARD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 SABLE</dc:creator>
  <cp:lastModifiedBy>TANISH SABLE</cp:lastModifiedBy>
  <cp:revision>2</cp:revision>
  <dcterms:created xsi:type="dcterms:W3CDTF">2026-02-01T17:08:47Z</dcterms:created>
  <dcterms:modified xsi:type="dcterms:W3CDTF">2026-02-01T18:22:42Z</dcterms:modified>
</cp:coreProperties>
</file>